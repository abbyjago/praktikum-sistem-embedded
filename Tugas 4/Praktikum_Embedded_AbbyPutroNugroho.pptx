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" cy="50703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2286000"/>
            <a:ext cx="365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45720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65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731520"/>
            <a:ext cx="2194560" cy="2194560"/>
          </a:xfrm>
          <a:prstGeom prst="rect">
            <a:avLst/>
          </a:prstGeom>
          <a:solidFill>
            <a:srgbClr val="172A45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0" y="1005840"/>
            <a:ext cx="164592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0058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MCU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92240" y="1097280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1097280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444752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1444752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792224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77072" y="1792224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139696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7072" y="2139696"/>
            <a:ext cx="109728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097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Praktikum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16916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Embedded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45720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889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 Putro Nugroho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40040324620017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 Praktikum  |  STM32 &amp; ESP32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General Purpose Input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GPIO?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(General Purpose Input/Output) adalah pin serbaguna pada mikrokontroler yang dapat dikonfigurasi secara software sebagai input atau output digital.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43200" cy="1920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Fungsi Utama GPIO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2585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Membaca sinyal digital dari sensor, tombol, encoder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Mengendalikan LED, relay, motor, display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Komunikasi bit-bang (SPI/I2C manual)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Triggering eksternal dan interrupt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743200" cy="1920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74520"/>
            <a:ext cx="2743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Arsitektur Internal GPIO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585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driver: Push-Pull &amp; Open-Drain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buffer dengan Schmitt Trigger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Pull-up/Pull-down resistor internal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Alternate Function Multiplexer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Protection diode (ESD)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743200" cy="192024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7452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Karakteristik Elektrik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585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Tegangan logika: 3.3V atau 5V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Arus maksimum per pin: 20–25 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Sink/Source current total dibatasi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GPIO speed: Low / Medium / High / Very High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threshold: 0.7 × Vcc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pin GPIO terhubung ke register konfigurasi (MODER, OTYPER, PUPDR, IDR, ODR) yang menentukan perilaku pin secara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General Purpose Input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Output: Push-Pull vs Open-Drain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02336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743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Push-Pull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7673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dua transistor (PMOS &amp; NMOS)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dapat aktif drive HIGH dan 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kuat: bisa source DAN sink current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LED, relay, indikator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membutuhkan resistor pull-up eksternal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 pada kebanyakan GPIO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02336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54864" cy="2743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325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Open-Drain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673352"/>
            <a:ext cx="37673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memiliki transistor NMOS (lower)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hanya bisa drive LOW, tidak bisa HIGH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HIGH perlu pull-up resistor eksternal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I2C, multi-master bus sharing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wire-AND: beberapa device satu jalur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Tegangan bus bisa berbeda (3.3V / 5V)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Tips: Gunakan Push-Pull untuk output mandiri. Gunakan Open-Drain ketika berbagi bus dengan device lain atau ketika perlu level shifting tegangan.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General Purpose Input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Input: Pull-Up, Pull-Down &amp; Active Level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206240" cy="22860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286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Pull-Up &amp; Pull-Down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95020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Pull-Up: Resistor ke Vcc, kondisi default HIGH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Pull-Down: Resistor ke GND, kondisi default 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Mencegah floating input (undefined state)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STM32: ~40kΩ, ESP32: ~45kΩ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Eksternal: 1kΩ–100kΩ (biasanya 10kΩ)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06240" cy="22860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54864" cy="2286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325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Active-HIGH vs Active-LOW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673352"/>
            <a:ext cx="395020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Active-HIGH: Logika aktif saat pin = 1 (HIGH)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LED ON saat pin HIGH, tombol ke Vcc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Active-LOW: Logika aktif saat pin = 0 (LOW)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LED ON saat pin LOW, tombol ke GND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lebih noise-resistant (common)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+ tombol ke GND = Active-LOW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Konfigurasi Input STM32: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GPIO_MODE_INPUT + GPIO_PULLUP / GPIO_PULLDOWN / GPIO_NOPULL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Konfigurasi Input ESP32 (IDF):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041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gpio_set_pull_mode(pin, GPIO_PULLUP_ONLY / GPIO_PULLDOWN_ONLY)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General Purpose Input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Debounce, Encoder Kuadratur &amp; Keypad Matrix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Konsep Debounce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tombol ditekan, kontak mekanis memantul (bounce) 5–50ms menghasilkan pulsa palsu. Solusi: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debounce: delay atau timer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debounce: kapasitor + resistor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Algoritma: deteksi tepi + guard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Encoder Kuadratur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dengan 2 sinyal (A &amp; B) fase berbeda 90°: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CW: A leading B → arah maju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CCW: B leading A → arah mundur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Resolusi: pulsa per revolusi (PPR)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Timer STM32: mode encoder built-in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ESP32: PCNT peripheral / software decode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Keypad Matrix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disusun dalam grid baris × kolom: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4×4 = 16 tombol dengan 8 pin saja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Teknik scan: aktifkan 1 baris, baca kolom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Deteksi simultaneous press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Gunakan pull-up pada kolom, output baris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Debounce tetap diperlukan per key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Kode Debounce Software (STM32 HAL):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if(HAL_GPIO_ReadPin(BTN_GPIO, BTN_PIN) == GPIO_PIN_RESET) { HAL_Delay(20); if(HAL_GPIO_ReadPin(...) == GPIO_PIN_RESET) { /* valid press */ }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– General Purpose Input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HAL vs ESP-IDF: Perbandingan GPIO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 HAL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ESP-IDF (ESP32)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Library/Header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#include "stm32f4xx_hal.h"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#include "driver/gpio.h"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Init 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GPIO_InitTypeDef GPIO_InitStruct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gpio_config_t io_conf = {}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Set Direction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GPIO_InitStruct.Mode = GPIO_MODE_OUTPUT_PP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io_conf.mode = GPIO_MODE_OUTPUT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Set Pull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GPIO_InitStruct.Pull = GPIO_PULLUP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io_conf.pull_up_en =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Write Pin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HAL_GPIO_WritePin(GPIOx, Pin, GPIO_PIN_SET)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gpio_set_level(pin, 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Read Pin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HAL_GPIO_ReadPin(GPIOx, Pin)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gpio_get_level(pin)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Toggle Pin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HAL_GPIO_TogglePin(GPIOx, Pin)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gpio_set_level(pin, !gpio_get_level(pin))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Clock Enable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Wajib: __HAL_RCC_GPIOx_CLK_ENABLE()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diperlukan (auto)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STM32 wajib mengaktifkan clock peripheral sebelum menggunakan GPIO. ESP32/IDF lebih simpel karena manajemen clock otomatis.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Interrupt: ISR, Vector Table &amp; NVIC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74320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Apa itu Interrupt?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hardware yang menghentikan eksekusi program utama untuk menangani event mendesak. Setelah ISR selesai, program kembali ke titik semula.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ISR harus singkat dan cepat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boleh ada blocking delay di ISR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Vector 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70992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alamat fungsi ISR di awal memori Flash: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Setiap interrupt memiliki slot vektor tetap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Cortex-M: 16 system + hingga 240 IRQ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STM32: vektor di 0x00000000 (default)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Reset, NMI, HardFault di posisi awal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Dapat direlokasi ke SRAM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74320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25880"/>
            <a:ext cx="2743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NVIC (STM32) &amp; Matrix (ESP32)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70992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NVIC: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Prioritas 0–15 (0 tertinggi)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grouping: preempt vs sub-priority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HAL_NVIC_SetPriority() + HAL_NVIC_EnableIRQ()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Interrupt Matrix: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Routing interrupt ke core 0/1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1–7, NMI level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esp_intr_alloc() untuk alokasi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93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Alur Interrupt: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  →  </a:t>
            </a:r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Event  → 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Context (Stack)  →  </a:t>
            </a:r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ISR  →  </a:t>
            </a:r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ISR  →  </a:t>
            </a:r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Context  → 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Interrupt (EXTI) &amp; Nested Interrupt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502920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743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External Interrupt (EXTI)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47731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0–15: satu per GPIO pin number (PA0, PB0 = EXTI0)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16: PVD, 17: RTC Alarm, 18: USB Wakeup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Konfigurasi: GPIO → EXTI mux → NVIC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mode: Rising Edge (↑), Falling Edge (↓), Both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HAL_GPIO_EXTI_Callback() = entry point user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gpio_isr_handler_add(pin, handler, arg)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325880"/>
            <a:ext cx="338328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325880"/>
            <a:ext cx="54864" cy="2743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3258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Nested Interrupt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50992" y="1673352"/>
            <a:ext cx="31272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Preemptive: ISR lebih tinggi interupsi ISR lebih rendah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grouping: misal 4 bit preempt, 0 bit sub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BASEPRI register: mask interrupt dibawah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PRIMASK: disable semua interrupt (kecuali NMI)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FreeRTOS: taskENTER_CRITICAL() pakai BASEPRI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nesting depth untuk stack yang aman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Trigger Mode Perbandingan: Rising (0→1): deteksi tombol lepas  |  Falling (1→0): deteksi tombol tekan (active-low)  |  Both: encoder, protokol komunikasi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Timer: Prescaler, Auto-Reload &amp; Counter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13716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Frekuensi Timer: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f_timer = f_clock / [(PSC + 1) × (ARR + 1)]    |    T_overflow = 1 / f_timer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= Prescaler  |  ARR = Auto-Reload Register  |  CNT = Counter (up/down/center)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Counter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2724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Up: 0 → ARR → overflow → reset ke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Down: ARR → 0 → underflow → reset ke ARR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Center-Aligned: 0→ARR→0, update at both ends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One-Pulse Mode: stop setelah satu siklus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74320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Timer STM32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12724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TIM1/TIM8: Advanced (dead time, complementary)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TIM2–TIM5: General Purpose (32-bit)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TIM6/TIM7: Basic (tanpa capture/compare)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APB1 (72MHz) vs APB2 (144MHz)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Setiap timer: 4 channel CC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74320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⏲️ Timer ESP32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12724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Timer hardware 64-bit, grup 0 &amp;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APB clock 80MHz, prescaler 16-bit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esp_timer: software timer berbasis 64-bit HW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 mode: one-shot atau periodik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Timer Group: wdt, interrupt support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Timer: PWM, Input Capture &amp; Output Compare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PWM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sinyal PWM dengan duty cycle variabel: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TIM_OCMode_PWM1: HIGH saat CNT &lt; CCR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TIM_OCMode_PWM2: LOW saat CNT &lt; CCR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CCR/ARR × 100% = duty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HAL_TIM_PWM_Start(&amp;htim, TIM_CHANNEL_x)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 Capture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timing sinyal eksternal: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nilai CNT saat edge terdeteksi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Mengukur: frekuensi, periode, pulse width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 capture → selisih = durasi sinyal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HAL_TIM_IC_Start_IT(&amp;htim, CHANNEL)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 Compare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event pada nilai CNT tertentu: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OC_Timing: interrupt saja, pin tidak berubah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OC_Toggle: toggle pin saat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OC_Active: set HIGH saat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OC_Inactive: set LOW saat 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20440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2044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 Watchdog Timer: IWDG &amp; WWDG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867912"/>
            <a:ext cx="8339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Watchdog (IWDG): clock LSI 32kHz, bebas dari main clock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Watchdog (WWDG): harus refresh dalam window waktu tertentu (tidak terlalu cepat, tidak terlalu lambat)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Task Watchdog (TWDT) per-task, Interrupt Watchdog (IWDT) antar interrupt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sistem otomatis jika tidak di-refresh (feed) dalam batas waktu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IWDG untuk deteksi hang/freeze, WWDG untuk timing presisi lebih ketat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Arsitektur Interrupt &amp; Timer: STM32 vs ESP32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STM32F4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Cortex-M4 (single-core)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Xtensa LX6 (dual-core)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Interrupt Controller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NVIC (Nested Vectored)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Interrupt Matrix (per core)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Priority Levels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16 level (0–15)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7 level + NMI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External Interrupt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EXTI 0–22 lines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Semua GPIO (via GPIO matrix)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Timer Hardware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TIM1–TIM14 (berbeda tipe)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4× 64-bit Timer + 2 WDT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Timer Clock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APB1: 90MHz, APB2: 180MHz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APB: 80MHz fixed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PWM Channel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Up to 4 CC per timer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LEDC: 16 ch, MCPWM: 6 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Watchdog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IWDG + WWDG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TWDT + IWDT per core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Software Timer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FreeRTOS xTimerCreate()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esp_timer_create() + FreeRTOS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ESP32 lebih fleksibel dalam routing interrupt ke core manapun. STM32 lebih deterministik dengan NVIC priority yang terdefinisi jelas.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– Universal Asynchronous Receiver/Transmitter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Data UART &amp; Konfigurasi 8N1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123444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Struktur Frame UART: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914400" cy="594360"/>
          </a:xfrm>
          <a:prstGeom prst="rect">
            <a:avLst/>
          </a:prstGeom>
          <a:solidFill>
            <a:srgbClr val="3645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88720" y="1737360"/>
            <a:ext cx="914400" cy="594360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889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605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03720" y="1737360"/>
            <a:ext cx="685800" cy="594360"/>
          </a:xfrm>
          <a:prstGeom prst="rect">
            <a:avLst/>
          </a:prstGeom>
          <a:solidFill>
            <a:srgbClr val="2980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589520" y="1737360"/>
            <a:ext cx="685800" cy="594360"/>
          </a:xfrm>
          <a:prstGeom prst="rect">
            <a:avLst/>
          </a:prstGeom>
          <a:solidFill>
            <a:srgbClr val="8E44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75320" y="1737360"/>
            <a:ext cx="914400" cy="594360"/>
          </a:xfrm>
          <a:prstGeom prst="rect">
            <a:avLst/>
          </a:prstGeom>
          <a:solidFill>
            <a:srgbClr val="27AE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743200"/>
            <a:ext cx="274320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743200"/>
            <a:ext cx="2743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Konfigurasi 8N1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312724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paling umum UART: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8: delapan data 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N: No Parity (tidak ada bit paritas)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1: satu stop bit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frame: 10 bit (1 start + 8 data + 1 stop)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2743200"/>
            <a:ext cx="274320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2743200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Baud Rate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91840" y="312724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transfer dalam bit per second: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Umum: 9600, 19200, 38400, 57600, 115200, 921600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Harus sama antara TX dan RX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toleransi: ±2–3%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baud = lebih rentan noise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2743200"/>
            <a:ext cx="274320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274320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Bit Paritas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312724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error sederhana: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Parity: total bit '1' harus genap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Odd Parity: total bit '1' harus ganjil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Mark: selalu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Space: selalu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deteksi, tidak bisa koreksi error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Line saat idle = HIGH (logika 1). Start bit selalu LOW. Stop bit selalu HIGH. LSB dikirim pertama.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– Universal Asynchronous Receiver/Transmitter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vs Interrupt vs DMA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Polling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terus-menerus memeriksa flag status: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HAL_UART_Transmit() / HAL_UART_Receive()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Blokir eksekusi sampai selesai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Mudah diimplementasi, debugging sederhana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waste: 100% sibuk selama transfer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debug, transfer kecil, prototype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Interrupt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dipicu interrupt, CPU bebas: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HAL_UART_Transmit_IT() / _Receive_IT()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HAL_UART_TxCpltCallback() dipanggil selesai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bisa kerjakan hal lain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 context save/restore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real-time, sistem responsif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DMA Mode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Memory Access: transfer tanpa CPU: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HAL_UART_Transmit_DMA() / _Receive_DMA()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benar-benar bebas total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tertinggi, latency terendah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Perlu konfigurasi DMA channel &amp; stream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data rate tinggi, audio, large buffer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8595360" cy="109728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Cepat: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Mudah, CPU terikat  |  </a:t>
            </a:r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Responsif, overhead ISR  |  </a:t>
            </a:r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efisien, setup kompleks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– Universal Asynchronous Receiver/Transmitter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ESP32 vs STM32: Perbedaan Arsitektur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STM32F4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Jumlah 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3× USART + 3× UART = 6 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3× UART (UART0, 1, 2)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Pin Assignment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Fixed alternate function (AF7/AF8)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Pin Remappable via GPIO Matrix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UART0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USART1 (default PA9/PA10)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UART0 (GPIO1/GPIO3, debug/console)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Hardware Flow Ctrl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RTS/CTS (USART1,2,3)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RTS/CTS tersedia semua 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FIFO Buffer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Minimal (1 byte RDR)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128-byte HW FIFO TX/RX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Clock Source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APB1 (45MHz) / APB2 (90MHz)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APB2 (80MHz)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Ya, DMA1/DMA2 stream spesifik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Ya, via ESP32 DMA controller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RS485 Mode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Driver Enable via DE pin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Built-in RS485 mode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Keunggulan ESP32: Pin remappable memudahkan PCB layout. FIFO 128-byte mengurangi risiko overrun. STM32 lebih deterministik untuk real-time hard.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– Universal Asynchronous Receiver/Transmitter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Buffer, Framing, CRC &amp; Timeout Parsing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3474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Ring Buffer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257860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buffer: FIFO dengan ukuran tetap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pointer: posisi tulis data baru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pointer: posisi baca data lama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(head+1) % size == 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Empty: head == 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Diisi di ISR RX, dibaca di main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data loss jika main loop lambat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54864" cy="3474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Framing &amp; Parsing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1673352"/>
            <a:ext cx="257860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SOF (0xAA) + Length + Payload + EOF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Parsing: state machine untuk deteksi 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CRC-8 / CRC-16: deteksi error per 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jika tidak ada byte dalam X ms → reset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NMEA (GPS), Modbus RTU, custom protokol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sederhana: XOR semua byte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sequence untuk byte khusus dalam payload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54864" cy="3474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3258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Implementasi Praktis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1673352"/>
            <a:ext cx="257860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HAL_UARTEx_ReceiveToIdle_DMA(): terima sampai idle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akhir frame via UART Idle Line interrupt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uart_read_bytes() dengan timeout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uart_pattern_detect_intr_enable() untuk delimiter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queue: kirim frame dari ISR ke task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 di ISR: gunakan xQueueSendFromISR()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– Universal Asynchronous Receiver/Transmitter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&amp; Praktikum UART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Langkah Setup UART (STM32 HAL)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Konfigurasi via STM32CubeMX: pilih USARTx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Atur BaudRate, WordLength, StopBits, Parity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Enable NVIC jika interrupt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 DMA stream jika DMA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Panggil HAL_UART_Receive_IT/DMA() di main()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Langkah Setup UART (ESP-IDF)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Definisikan uart_config_t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uart_param_config(UART_NUM, &amp;config)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uart_set_pin(UART_NUM, TX, RX, -1, -1)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uart_driver_install() dengan buffer 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Baca dengan uart_read_bytes() atau event queue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371600"/>
          </a:xfrm>
          <a:prstGeom prst="rect">
            <a:avLst/>
          </a:prstGeom>
          <a:solidFill>
            <a:srgbClr val="172A4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Checklist Debugging UART: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Baud rate sama di TX dan RX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TX device A → RX device B (cross)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GND dihubungkan (common ground)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Level tegangan sama (3.3V atau 5V)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Pull-up jika level konverter diperlukan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Logic analyzer untuk verifikasi sinyal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 to Digital Converter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ADC: Sampling, Kuantisasi &amp; Encoding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Proses ADC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SAMPLING: sinyal analog diambil pada interval 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KUANTISASI: nilai kontinu dipetakan ke nilai diskret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ENCODING: nilai diskret dikode ke bilangan biner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Nyquist: fs ≥ 2 × f_sinyal_maks (anti-aliasing)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Resolusi &amp; Konversi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 12-bit: 2¹² = 4096 level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konversi: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V_in = (ADC_raw / (2^N - 1)) × V_ref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raw=2048, Vref=3.3V → V_in = 1.65V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= Vref / (2^N - 1) = 3.3/4095 ≈ 0.806 mV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2044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Sumber Error ADC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867912"/>
            <a:ext cx="8339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Aliasing: sinyal lebih dari Nyquist terlipat ke frekuensi rendah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Anti-aliasing filter: low-pass filter sebelum ADC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jitter: variasi waktu sampling → error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error: ±½ LSB inherent noise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codes: ADC tidak ideal, beberapa kode tidak muncul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DNL (Differential Non-Linearity): deviasi per step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 (Integral Non-Linearity): akumulasi error keseluruhan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 to Digital Converter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ESP32: Atenuasi, Kalibrasi eFuse &amp; ADC1 vs ADC2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743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ADC1 vs ADC2 ESP32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ADC1: 8 channel (GPIO32–GPIO39) – bisa digunakan bebas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ADC2: 10 channel (GPIO0,2,4,12-15,25-27) – TIDAK bisa saat WiFi aktif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Resolusi: 9, 10, 11, 12-bit (default 12-bit)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internal: ~1.1V (tidak bisa diubah)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adc1_config_width() + adc1_config_channel_atten()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esp_adc_cal_characterize() untuk kalibrasi tegangan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54864" cy="2743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25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Atenuasi &amp; Kalibrasi eFuse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1673352"/>
            <a:ext cx="40416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ADC_ATTEN_DB_0: range 0 – 1.1V (paling presisi)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ADC_ATTEN_DB_2_5: range 0 – 1.5V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ADC_ATTEN_DB_6: range 0 – 2.2V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ADC_ATTEN_DB_11: range 0 – 3.9V (untuk 3.3V penuh)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eFuse Calibration: koreksi berdasarkan nilai pabrik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esp_adc_cal_get_voltage(): output dalam mV sudah terkoreksi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ESP32 ADC: buruk tanpa kalibrasi (±10%)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Penting: ADC2 ESP32 tidak dapat digunakan bersamaan dengan WiFi. Jika proyek menggunakan WiFi, selalu gunakan ADC1. Kalibrasi eFuse wajib untuk akurasi ±1%.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 to Digital Converter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STM32: Channel, Scan Mode &amp; Analog Watchdog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ADC STM32 (HAL)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STM32F4: ADC1/2/3, 12-bit SAR ADC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+ Injected conversion 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mode: konversi multi-channel berurutan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mode: konversi terus-menerus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Discontinuous: konversi N channel per trigger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Referensi: VDDA (biasanya 3.3V)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Analog Watchdog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rentang tegangan otomatis: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batas HTR (High Threshold) dan LTR (Low)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AWD interrupt saat keluar rentang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Berguna: baterai, sensor suhu, proteksi over-current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perlu polling kontinyu di software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HAL_ADC_LevelOutOfWindowCallback()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15544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23360"/>
            <a:ext cx="54864" cy="1554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2336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Teknik Filter &amp; DMA ADC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370832"/>
            <a:ext cx="8339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Oversampling: rata-rata beberapa sampel untuk noise reduction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HAL_ADC_Start_DMA(): transfer ke buffer tanpa CPU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circular mode: buffer terus diperbarui otomatis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HAL_ADC_ConvCpltCallback() atau HAL_ADC_ConvHalfCpltCallback()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filter: moving average, IIR, median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Anti-aliasing: RC filter eksternal (R=1kΩ, C=100nF → fc≈1.6kHz)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 to Digital Converter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Filter Digital ADC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Moving Average Filter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N sampel terakhir: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(x[n] + x[n-1] + ... + x[n-N+1]) / 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Mudah implementasi, delay = N/2 sampel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Efektif untuk noise random (white noise)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Semakin besar N → semakin smooth, makin lambat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Implementasi dengan circular buffer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IIR Filter (Low-Pass)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y[n] = α × x[n] + (1-α) × y[n-1]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Ts / (Ts + RC)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 kecil → lebih halus, lebih lambat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 besar → lebih responsif, kurang halus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Hemat memori: hanya butuh y[n-1]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 sinyal berubah lambat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Median 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N sampel, ambil nilai tengah: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Sangat baik untuk spike/glitch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Cocok: sensor jarak, tombol analog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Komputasi lebih berat (sorting)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biasanya 3, 5, atau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smooth seperti moving average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1371600"/>
          </a:xfrm>
          <a:prstGeom prst="rect">
            <a:avLst/>
          </a:prstGeom>
          <a:solidFill>
            <a:srgbClr val="172A4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Contoh Kode IIR Filter (C):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alpha = 0.1f;  float filtered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raw = 0;  HAL_ADC_Start(&amp;hadc1);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HAL_ADC_PollForConversion(&amp;hadc1, 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HAL_ADC_GetValue(&amp;hadc1);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alpha * raw + (1.0f - alpha) * filtered;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– Analog to Digital Converter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ADC: STM32 vs ESP32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STM32F4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ADC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SAR (Successive Approx.)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SAR (Successive Approx.)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Resolusi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12-bit (4096 level)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12-bit (4096 level)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Jumlah ADC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ADC1, ADC2, ADC3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ADC1 (8ch), ADC2 (10ch)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Referensi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VDDA (external/internal)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Internal ~1.1V + atenuasi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Sampling Rate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Hingga 2.4 MSPS (dual interleaved)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Hingga ~100 KSPS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Kalibrasi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Single-point factory 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eFuse multi-point calibration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WiFi Konflik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ada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ADC2 tidak bisa saat WiFi 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Analog WDG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(HTR/LTR threshold)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ada built-in AWD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DMA1/2, circular mode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langsung (gunakan loop)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Akurasi Tanpa Kal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Lebih baik (~1–2%)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Kurang baik (~5–10%)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 – Output Analog &amp; Pulse Width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DAC: R-2R, Resolusi &amp; Output Range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Arsitektur R-2R Ladder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R-2R menggunakan jaringan resistor: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dan 2R bergantian membentuk ladder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Setiap bit berkontribusi setengah dari bit sebelumnya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MSB paling besar, LSB paling kecil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V = Vref × (D / 2^N)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Sederhana, akurasi bergantung presisi resistor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Resolusi &amp;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 menentukan granularitas: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8-bit: 256 level, LSB = Vref/255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10-bit: 1024 level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12-bit: 4096 level, sangat halus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STM32 DAC: 0 – Vdda (3.3V)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V_out = (D / 2^N) × Vref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time: waktu stabilisasi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3716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49040"/>
            <a:ext cx="54864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4904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Karakteristik &amp; Pertimbangan DAC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096512"/>
            <a:ext cx="83393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interpolasi: DAC + filter LP untuk audio smoother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output: op-amp unity gain untuk drive beban berat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energy: spike saat transisi kode (MSB flip)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Deglitch filter: capacitor kecil di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drift: sensitivitas Vref terhadap suhu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Monotonicity: output naik jika kode naik (idealnya)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 – Output Analog &amp; Pulse Width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PWM: Duty Cycle, Frekuensi &amp; Filter RC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82296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Cycle (%) = (T_on / T_period) × 100  |  V_avg = Vcc × Duty Cycle  |  f_PWM = 1 / T_period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Frekuensi PWM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frekuensi penting: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dimming: 50–1000 Hz (flicker-free &gt;100Hz)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Servo: 50 Hz (1ms–2ms pulse)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DC: 10–20 kHz (di atas audio range)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DAC: 44.1–192 kHz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Switching PSU: 100kHz – 1MHz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28600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Filter RC untuk DAC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67004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+ Low-Pass RC Filter = sinyal analog: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 = 1/(2π×R×C) jauh di bawah f_PWM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Ripple = V_ripple ≈ Vcc/(4π×f_pwm×R×C)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Contoh: f_pwm=20kHz, R=10kΩ, C=100nF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fc = 159Hz, ripple sangat kecil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stabil = V_avg sinyal analog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28600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Aplikasi PWM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67004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dimming: ubah kecerahan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Servo motor: posisi via lebar pulsa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DC: kecepatan via duty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Audio: Class-D amplifier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Buck/Boost converter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Heater control (SSR)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Buzzer melody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 PWM: Lebih tinggi ARR → lebih halus. STM32 F4: ARR 16-bit = 65535 step. ESP32 LEDC: hingga 20-bit resolusi.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 – Output Analog &amp; Pulse Width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vs PWM: Kapan Menggunakan Masing-masing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DAC (Hardware)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PWM + Filter RC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Output 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Sangat bersih, tanpa ripple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Ada ripple (tergantung filter)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Bandwidth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Tinggi (langsung settles)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Terbatas fc filter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Latency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Sangat rendah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Tergantung RC time constant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Konsumsi Daya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Lebih tinggi (op-amp)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Lebih rendah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Biaya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Lebih mahal (IC DAC)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Sangat murah (R+C)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Resolusi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Tetap (8/12-bit)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Sangat fleksibel (timer bits)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Cocok untuk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Audio, sensor driving, waveform gen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Motor, LED, servo, heater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572000"/>
            <a:ext cx="8595360" cy="54864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457200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4681728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DAC: saat butuh sinyal analog bersih, audio quality, sensor excitation, waveform generator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PWM+Filter: saat kontrol daya, motor speed, LED dimming, servo, heater – tidak butuh kualitas audio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jika beban adalah switching (motor, relay) → PWM cukup. Jika beban analog linear → DAC lebih baik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 – Output Analog &amp; Pulse Width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DAC 8-bit &amp; LEDC PWM Controller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743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ESP32 DAC 8-bit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channel DAC: DAC_CHANNEL_1 (GPIO25) dan DAC_CHANNEL_2 (GPIO26)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 8-bit: 256 level, output 0 – Vdd (3.3V)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dac_output_enable() → dac_output_voltage(channel, value 0-255)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wave generator built-in: dac_cw_generator_config_t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bisa dipadankan dengan DMA untuk waveform streaming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Akurasi: ±1% typical, settling time ~3μs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54864" cy="2743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25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LEDC PWM ESP32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1673352"/>
            <a:ext cx="40416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LEDC: LED Controller PWM, 16 channel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Dibagi: 8 High-Speed ch (LEDC_HIGH_SPEED_MODE) dan 8 Low-Speed 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Resolusi: 1–20 bit, tergantung frekuensi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ledc_timer_config() + ledc_channel_config()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ledc_set_duty() + ledc_update_duty()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Fade/ramp built-in: ledc_set_fade_with_time()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MCPWM peripheral untuk motor brushless/brushed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8595360" cy="914400"/>
          </a:xfrm>
          <a:prstGeom prst="rect">
            <a:avLst/>
          </a:prstGeom>
          <a:solidFill>
            <a:srgbClr val="172A4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Resolusi LEDC Max: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537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Max_resolution = log2(f_APB / f_PWM)   |   Contoh: f_APB=80MHz, f_PWM=5kHz → log2(16000) ≈ 13.97 → max 13-bit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 – Output Analog &amp; Pulse Width Modulation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STM32: Timer PWM &amp; Tidak Ada DAC Sederhana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Timer PWM STM32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STM32F401 tidak memiliki DAC hardware.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Timer untuk PWM: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TIM_OCMode_PWM1/PWM2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CCRx/ARR = duty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HAL_TIM_PWM_Start(&amp;htim, CHANNEL)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__HAL_TIM_SET_COMPARE() untuk ubah duty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Setup PWM STM32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CubeMX: aktifkan TIMx → PWM Generation CHx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Atur Prescaler dan ARR sesuai frekuensi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Atur Pulse (CCR) sesuai duty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 GPIO alternate function otomatis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HAL_TIM_PWM_Start() di main()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Ubah duty: __HAL_TIM_SET_COMPARE(htim, CH, val)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3774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Contoh Servo PWM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standar: f = 50Hz, T = 20ms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 = 19999, PSC = 167 (84MHz/168 = 500kHz, /20000 = 25Hz... atur sesuai)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Posisi 0°: pulse 1ms → CCR = 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Posisi 90°: pulse 1.5ms → CCR = 750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Posisi 180°: pulse 2ms → CCR = 1000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Jaga PWM frekuensi tepat 50Hz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128016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40480"/>
            <a:ext cx="54864" cy="12801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4048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Advanced PWM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187952"/>
            <a:ext cx="8339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Advanced Timer (TIM1/TIM8): complementary output + dead-time untuk half-bridge driver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Dead-time insertion: mencegah shoot-through pada H-bridge (kedua transistor ON bersamaan)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input: mematikan PWM otomatis saat over-current (FAULT pin)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MCPWM: 3 pair complementary output, fault handling, sync, capture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– Inter-Integrated Circuit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I2C: SDA, SCL, Start/Stop &amp; ACK/NACK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menggunakan 2 wire: SDA (data) + SCL (clock). Semua device berbagi bus yang sama dengan addressing 7-bit.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[S][ADDR 7-bit][R/W][ACK][DATA 8-bit][ACK]...[DATA][ACK][P]  S=START, P=STOP, ACK=0, NACK=1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Start &amp; Stop Condition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71576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SDA turun saat SCL HIGH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SDA naik saat SCL HIGH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master yang generate S dan 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START (Sr): restart tanpa STOP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untuk read-after-write tanpa melepas bus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33172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33172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ACK &amp; NACK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71576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setiap 8-bit, receiver pull SDA LOW = 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SDA HIGH = NACK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NACK terjadi: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tidak ada di alamat tersebut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Slave sibuk / not 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terakhir diterima (master beri NACK)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83464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33172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Addressing 7-bit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715768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7-bit address: 0x00–0x7F (128 alamat)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0x00: General 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0x01–0x07: reserved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0x08–0x77: usable (112 alamat)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frame: [ADDR 7-bit | R/W bit]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BMP280 = 0x76 atau 0x77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speed: Standard Mode 100kHz | Fast Mode 400kHz | Fast-Plus 1MHz | High-Speed 3.4MHz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– Inter-Integrated Circuit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Resistor &amp; Clock Stretching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926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Pull-Up Resistor I2C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bus bersifat open-drain: device hanya pull LOW, tidak drive HIGH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resistor ke Vcc diperlukan untuk keduanya: SDA dan SCL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tipikal: 4.7kΩ untuk 100kHz, 2.2kΩ untuk 400kHz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besar: rise time lambat, error di high speed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kecil: konsumsi arus berlebih, driver kewalahan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Rumus: Rpu_min = (Vcc - VOL_max) / I_ol (datasheet)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shifting: gunakan PCA9306 atau FET untuk 5V↔3.3V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Clock Stretching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dapat hold SCL LOW untuk memperlambat master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belum siap data → stretch clock → master menunggu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semua master support clock stretching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 untuk: EEPROM write time, slow ADC slaves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HAL mendukung clock stretching otomatis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I2C master mode mendukung clock stretching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harus diset di master untuk hindari deadlock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Masalah Umum I2C: Bus stuck LOW (SCL atau SDA tertahan LOW) → power cycle atau 9 clock pulses untuk reset. Selalu tambahkan timeout di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– Inter-Integrated Circuit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pada ESP32 vs STM32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 HAL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ESP-IDF (ESP32)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Jumlah 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I2C1, I2C2 (beberapa varian lebih)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I2C_NUM_0, I2C_NUM_1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Pin SDA/SCL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Fixed AF (PB6/PB7, PB8/PB9, dll)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Semua GPIO (via GPIO Matrix)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HAL_I2C_Init(&amp;hi2c1)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i2c_param_config() + i2c_driver_install()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Write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HAL_I2C_Master_Transmit()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i2c_master_write_to_device()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Read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HAL_I2C_Master_Receive()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i2c_master_read_from_device()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Mem Write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HAL_I2C_Mem_Write()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Manual: write addr lalu write data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Scan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Loop HAL_I2C_IsDeviceReady()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Loop i2c_master_write_to_device()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Timeout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Parameter timeout (HAL_MAX_DELAY)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Ticks: pdMS_TO_TICKS(1000)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HAL_I2C_Master_Transmit_DMA()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langsung, gunakan event task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ESP32 lebih fleksibel: SDA/SCL bisa pin apapun. STM32 lebih deterministik untuk timing presisi. Gunakan scanner I2C untuk cari alamat device.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– Inter-Integrated Circuit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Populer I2C: BMP280, OLED, MPU6050, RTC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01168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01168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BMP280 (Suhu &amp; Tekanan)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Addr: 0x76 (SDO=GND) / 0x77 (SDO=3.3V)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0xF3=status, 0xF7-0xFC=data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Kalibrasi: koefisien kompensasi di 0x88-0x9F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Modo: forced / normal / sleep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Akurasi: ±1 hPa, ±1°C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201168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2011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OLED 128×64 (SSD1306)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70992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Addr: 0x3C atau 0x3D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Inisialisasi: sequence command setup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GRAM: 128×64 bits = 1 KB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Halaman: 8 page × 128 col (8 pixel tinggi)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SSD1306 / U8g2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Framebuffer lalu kirim seluruh GRAM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201168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25880"/>
            <a:ext cx="20116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MPU6050 (IMU)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70992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Addr: 0x68 (AD0=GND) / 0x69 (AD0=HIGH)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Akselerometer: ±2/4/8/16g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Giroskop: ±250/500/1000/2000 dps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DMP: Digital Motion Processor built-in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pada data ready pin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Kalibrasi offset diperlukan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1325880"/>
            <a:ext cx="2011680" cy="21031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25880"/>
            <a:ext cx="201168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RTC DS3231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70992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Addr: 0x68 (same as MPU! be careful)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BCD: seconds, minutes, hours, day...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Xtal internal temperatur-compensated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Akurasi: ±2 ppm (±1 menit/tahun)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SQW output: 1Hz, 4kHz, 8kHz, 32kHz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1 &amp; Alarm 2 dengan interrupt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8595360" cy="155448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Tips Penggunaan I2C Multi-Device: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alamat dahulu dengan I2C scanner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Cek konflik alamat (MPU6050 &amp; DS3231 sama-sama 0x68!)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Pull-up resistor cukup SATU pasang untuk seluruh bus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Total kapasitansi bus max 400pF (batasi jumlah device)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– Inter-Integrated Circuit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Best Practices I2C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3200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Debugging I2C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I2C scanner: loop 0x08–0x77, cek HAL_I2C_IsDeviceReady()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/ oscilloscope untuk capture waveform SDA &amp; SCL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ACK: NACK = device tidak ada atau salah alamat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time terlalu lambat? Pull-up terlalu besar, kurangi nilainya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stuck LOW? 9 dummy clock pulses atau power cycle device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level tegangan: jangan mix 5V &amp; 3.3V tanpa level shifter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100nF decoupling capacitor dekat setiap device VCC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3200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Practices I2C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kabel I2C sependek mungkin (&lt; 30 cm ideal)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pair SDA-GND dan SCL-GND mengurangi noise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I2C multiplexer (TCA9548A) jika banyak device alamat sama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abstraksi: setiap sensor buat HAL sendiri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selalu cek return value HAL_I2C_xxx()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jangan gunakan HAL_MAX_DELAY di sistem real-time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Mutex: di FreeRTOS, protect akses bus I2C dengan mutex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45152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81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Ingat: I2C adalah protokol synchronous half-duplex. Tidak bisa kirim dan terima bersamaan. Master selalu inisiasi komunikasi.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 Embedded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SPI: MOSI, MISO, SCLK, CS &amp; Mode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68580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(Serial Peripheral Interface): full-duplex, synchronous, master-slave. 4 wire: MOSI, MISO, SCLK, CS (chip select aktif LOW).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283464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Sinyal SPI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MOSI: Master Out Slave In (master→slave)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MISO: Master In Slave Out (slave→master)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SCLK: Clock (selalu dari master)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CS/NSS: Chip Select (LOW = selected)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slave: setiap slave butuh CS sendiri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 chain: MISO→MOSI berantai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10312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Mode SPI (CPOL/CPHA)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48716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0: CPOL=0, CPHA=0 → clock LOW idle, sample pada rising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1: CPOL=0, CPHA=1 → sample pada falling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 CPOL=1, CPHA=0 → clock HIGH idle, sample pada falling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3: CPOL=1, CPHA=1 → sample pada rising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datasheet device untuk mode yang benar!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0312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03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Karakteristik SPI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Kecepatan: 1–100+ MHz (jauh lebih cepat dari I2C)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Full-duplex: kirim dan terima bersamaan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ACK: tidak ada konfirmasi penerimaan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addressing: CS menggantikan alamat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device: terbatas pin CS yang tersedia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Protokolnya sederhana tapi lebih banyak pin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 Embedded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vs I2C: Perbandingan Mendalam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I2C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Jumlah Wire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4 (+ 1 CS per device)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2 (SDA + SCL)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Kecepatan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1MHz – 100+ 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100kHz – 3.4MHz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Full-Duplex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(half-duplex)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Jumlah Device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Terbatas pin 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Max 128 (7-bit addressing)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ACK/NACK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ada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Ada (error detection)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Clock Stretching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(slave bisa delay)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Multi-Master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standar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(arbitrasi built-in)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Cocok untuk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Display, SD card, flash, sensor cepat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Sensor lambat, RTC, EEPROM, OLED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Kompleksitas SW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Sederhana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Sedikit lebih kompleks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Gunakan SPI untuk data rate tinggi. Gunakan I2C jika pin terbatas dan butuh banyak device dengan kecepatan moderat.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 Embedded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Embedded: NVS, SPIFFS, FAT &amp; Flash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65176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65176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NVS (Non-Volatile Storage)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key-value store di flash: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nvs_open() → nvs_get_i32/str() → nvs_commit()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Namespace untuk organisasi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Wear leveling otomatis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value size: 1984 bytes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Cocok: konfigurasi, WiFi credentials, counter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1325880"/>
            <a:ext cx="265176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325880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SPIFFS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70992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File System: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 file kecil (HTML, config, asset)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mendukung direktori (flat namespace)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Mount: esp_vfs_spiffs_register()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seperti POSIX: fopen, fread, fwrite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Partition terpisah di flash (flash_part_table)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ideal untuk akses random banyak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1325880"/>
            <a:ext cx="301752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325880"/>
            <a:ext cx="30175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325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FAT &amp; SD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1709928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filesystem via SPI SD card: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esp_vfs_fat_sdspi_mount() untuk ESP32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 SD driver untuk STM32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Mendukung direktori dan file besar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Cocok: logging data, firmware OTA, media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FATFS library: f_open, f_write, f_read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Perlu CS pin dan SPI yang tidak dikonflik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 Manajemen Flash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Flash STM32: sectors dengan erase sebelum write. Gunakan halaman akhir untuk data non-volatile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emulation: STM32 HAL library untuk emulasi EEPROM di flash internal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leveling: flash memiliki cycle terbatas (~100K erase). Jangan write berulang di lokasi sama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write: kumpulkan data lalu tulis sekaligus untuk kurangi erase cycle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 Embedded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pada ESP32 vs STM32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 HAL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ESP-IDF (ESP32)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Bus SPI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SPI1, SPI2, SPI3, SPI4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SPI1(internal), SPI2(HSPI), SPI3(VSPI)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Pin SPI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Fixed alternate function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Pin remappable via GPIO Matrix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Max Speed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~45 MHz (APB clock / 2)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~80 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Ya, full duplex DMA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Ya, via SPI DMA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CS Management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Hardware NSS atau manual GPIO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Manual GPIO atau driver 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HAL_SPI_Init(&amp;hspi)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spi_bus_initialize() + spi_device_add()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Transfer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HAL_SPI_TransmitReceive()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spi_device_transmit()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Queue/Async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DMA callback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spi_device_queue_trans() (async)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ESP32 SPI lebih fleksibel dengan pin remapping. SPI2 (VSPI) default digunakan untuk SD card. SPI1 digunakan internal oleh flash chip.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 Embedded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Praktikum: SPI Display &amp; Data Logging ke SD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SPI Display (ILI9341/ST7789)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TFT via SPI: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wire: MOSI, SCLK, CS, DC (data/command)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DC=LOW untuk command, DC=HIGH untuk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Inisialisasi: sequence command panjang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pixel: set column, set row, write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Library: TFT_eSPI (ESP32) / ILI9341 (STM32)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Framerate: SPI clock menentukan fps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Data Logging ke SD Card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logger: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Mount SD card via SPI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Buka file dengan mode append ("a")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Tulis timestamp + data sensor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Flush/close setelah batch tertentu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Tambahkan header CSV di awal file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log_2024-01-15.csv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Timestamp,Temp,Humi,Pressure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Tips SPI Storage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W25Q128: Flash SPI 128Mbit populer. Operasi: write enable → erase sector → page program → read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SPIFFS vs LittleFS: LittleFS lebih tahan power failure, lebih reliable untuk embedded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naming: timestamp-based untuk hindari overwrite log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strategy: kumpulkan 512 bytes (1 sector SD) sebelum write untuk efisiensi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selalu cek mount success, disk full, write error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– Real-Time Operating System Dasar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vs Bare-Metal: Super Loop vs Preemptive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72A45"/>
          </a:solidFill>
          <a:ln w="19050">
            <a:solidFill>
              <a:srgbClr val="8892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56032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Bare-Metal Super Loop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di main(): while(1) { task1(); task2(); task3(); }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Sederhana, deterministik, mudah debug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satu task lambat memblokir semua task lain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prioritas: semua task setara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untuk event cepat, main loop untuk proses lambat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sistem sederhana, satu fungsi utama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54864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25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RTOS Preemptive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1673352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mengelola eksekusi multiple task secara bersamaan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Preemptive: task prioritas tinggi bisa memotong task lain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slicing: task sama prioritas berbagi waktu CPU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task punya stack, state, dan prioritas sendiri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API: vTaskDelay(), xQueueReceive(), dll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Deterministik: response time bisa dijamin (hard RTOS)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Pakai RTOS?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RTOS ketika: ada multiple independent task, butuh respons real-time, task memiliki prioritas berbeda, atau butuh mekanisme sinkronisasi antar task.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– Real-Time Operating System Dasar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 Diagram: Running, Ready, Blocked, Suspended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371600"/>
            <a:ext cx="201168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 dieksekusi CPU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201168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jalan, tunggu giliran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743200"/>
            <a:ext cx="201168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event/delay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3840480"/>
            <a:ext cx="2011680" cy="54864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407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Dihentikan manual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pilih task tertinggi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Preempted / Time slice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vTaskDelay()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xQueueReceive()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3429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terjadi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3410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vTaskSuspend()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34107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vTaskResume()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8595360" cy="8686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24528"/>
            <a:ext cx="54864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24528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API Task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" y="4572000"/>
            <a:ext cx="8339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xTaskCreate(func, name, stackSize, params, priority, &amp;handle) – dynamic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xTaskCreateStatic() – static allocation (lebih prediktif)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vTaskDelete(NULL) – hapus task diri sendiri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0 (terendah) hingga configMAX_PRIORITIES-1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– Real-Time Operating System Dasar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Preemptive, Cooperative &amp; Time Slicing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Preemptive Scheduler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prioritas lebih tinggi langsung preempt: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Interrupt dapat membuat task higher priority 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vTaskDelay() melepas CPU ke task lain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configUSE_PREEMPTION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 cepat untuk task kritis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Perlu hati-hati shared resource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Cooperative Scheduler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melepas CPU secara sukarela: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configUSE_PREEMPTION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harus panggil taskYIELD() atau blocking 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Lebih deterministik, lebih mudah debug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Bahaya: task tidak yield → starve task lain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Digunakan di sistem sangat terbatas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Time Slicing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prioritas sama mendapat giliran: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configUSE_TIME_SLICING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 interrupt = 1ms (default 1000Hz)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Round-robin antar task setara prioritas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Fairness tapi context switch overhead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Masing-masing dapat 1 tick minimal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Konfigurasi Scheduler (FreeRTOSConfig.h)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configTICK_RATE_HZ: default 1000 (1ms tick). Kurangi untuk hemat power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vTaskDelay(pdMS_TO_TICKS(100)): delay 100ms relatif (bisa drift)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vTaskDelayUntil(): delay absolut, cocok untuk task periodik presisi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Task: berjalan saat semua task blocked. Berisi vTaskDelay hook dan tickless idle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configMINIMAL_STACK_SIZE: stack minimum Idle Task. Task user butuh lebih besar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– Real-Time Operating System Dasar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Heap Management FreeRTOS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3200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Stack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task memiliki stack independen (ukuran ditentukan saat xTaskCreate)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berisi: local variables, function call frames, saved CPU registers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stack → HardFault! (silent corruption jika tidak ada guard)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configCHECK_FOR_STACK_OVERFLOW = 2: runtime watermark checking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uxTaskGetStackHighWaterMark(): sisa stack minimum (word, bukan byte)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mulai 256 words, monitor watermark, sesuaikan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configSTACK_DEPTH_TYPE uint32_t untuk stack &gt; 64KB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3200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Heap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heap: heap_1 s/d heap_5 (lihat Modul 11 detail)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pvPortMalloc() / vPortFree() → wrapper ke allocator yang dipilih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xTaskCreate() pakai malloc untuk TCB + stack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xTaskCreateStatic() pakai buffer yang disediakan user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lebih aman: tidak ada runtime malloc failure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configSUPPORT_DYNAMIC_ALLOCATION dan STATIC_ALLOCATION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xPortGetFreeHeapSize(): sisa heap tersedia (monitoring)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45152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81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Selalu monitor stack dan heap di fase development. Stack overflow adalah bug paling umum di FreeRTOS yang sulit di-debug!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– Real-Time Operating System Dasar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Dual-Core vs STM32 Single-Core di FreeRTOS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STM32 + FreeRTOS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ESP32 + FreeRTOS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Single-core Cortex-M4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Dual-core Xtensa LX6 (Core 0 &amp; 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Task Pinning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ada (satu core)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xTaskCreatePinnedToCore(core_id)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Core 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WiFi/BT protocol stack (direkomendasikan)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Core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Aplikasi user (default jika tidak pin)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SMP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(Symmetric Multi-Processing)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Mutex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Normal FreeRTOS mutex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Cross-core safe mutex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IPC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perlu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esp_ipc_call(): jalankan fungsi di core lain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Cache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Internal cache Cortex-M4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Per-core cache, bisa inkonsisten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Performa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Lebih deterministik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Throughput lebih tinggi (dual core)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Praktik terbaik ESP32: pin WiFi task ke Core 0, aplikasi ke Core 1. Hindari race condition saat task berbeda core akses shared data.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Semaphore &amp; Mutex – Sinkronisasi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FreeRTOS: FIFO, Copy-by-Value &amp; Blocking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Konsep Queue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buffer thread-safe: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xQueueCreate(length, itemSize)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Copy-by-value: data disalin ke queue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perlu khawatir dangling pointer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Length: jumlah item yang bisa disimpan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itemSize: ukuran SATU item (bytes)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Send &amp; Receive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xQueueSend(queue, &amp;item, ticksToWait)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portMAX_DELAY: block selamanya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0: tidak block (langsung return)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xQueueReceive(queue, &amp;buf, ticksToWait)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sampai ada item tersedia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Hapus item dari queue setelah baca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xQueuePeek(): baca tanpa hapus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From ISR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ISR (tidak boleh block):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xQueueSendFromISR(q, &amp;item, &amp;woken)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xQueueReceiveFromISR(q, &amp;buf, &amp;woken)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portYIELD_FROM_ISR(woken):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switch jika task terbangun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WAJIB dipanggil setelah ISR queue 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Lupa = task terlambat running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 &amp; Advanced Queue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of pointers: kirim pointer ke heap, bukan copy data besar (hemat stack)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xQueueOverwrite(): selalu sukses, overwrite item terbaru (cocok untuk status/sensor)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uxQueueMessagesWaiting(): berapa item di queue sekarang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uxQueueSpacesAvailable(): berapa slot kosong tersisa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Semaphore &amp; Mutex – Sinkronisasi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Counting Semaphore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Binary Semaphore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2 nilai: 0 (tidak tersedia) atau 1 (tersedia)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xSemaphoreCreateBinary(): buat semaphore binary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Awal: selalu 0 (belum diberikan)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xSemaphoreGive(): set ke 1 (signal tersedia)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xSemaphoreTake(sem, ticksToWait): tunggu = 1, set ke 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Penggunaan: signaling antara ISR dan task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xSemaphoreGiveFromISR() untuk dari interrupt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926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Counting Semaphore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integer 0 hingga maxCount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xSemaphoreCreateCounting(maxCount, initialCount)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Give: increment counter (jika belum max)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Take: decrement counter (block jika 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pool resources (5 koneksi tersedia)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event counter (berapa kali tombol ditekan)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ownership: siapapun bisa give/take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8595360" cy="7772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ISR → Task via Binary Semaphore: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ISR: xSemaphoreGiveFromISR(sem, &amp;woken); portYIELD_FROM_ISR(woken);  |  Task: while(1){ xSemaphoreTake(sem, MAX_DELAY); /* proses */ }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Semaphore &amp; Mutex – Sinkronisasi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vs Semaphore: Ownership &amp; Priority Inheritance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Mutex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 – hanya 1 task yang pegang: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xSemaphoreCreateMutex()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HARUS Take dan Give oleh task SAMA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Inheritance: mencegah priority inversion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bisa Give dari ISR!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Gunakan untuk: protect shared resource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xMutexHandle → API sama dengan semaphore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Priority Inheritance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Priority Inversion: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Tinggi menunggu resource yang dipegang Task Rendah.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Menengah berjalan → Task Tinggi terblokir lama!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mutex FreeRTOS: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Rendah yang pegang mutex → naik sementara ke prioritas Task Tinggi → selesai → turun kembali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Recursive Mutex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yang bisa di-Take berulang oleh task SAMA: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xSemaphoreCreateRecursiveMutex()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xSemaphoreTakeRecursive() harus dipasangkan dengan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xSemaphoreGiveRecursive() sama banyak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fungsi rekursif yang butuh mutex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 lebih tinggi dari mutex biasa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2336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Fitur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Binary Semaphore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Mutex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Ownership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ada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Ada (harus Give oleh taker)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Priority Inheritance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Dari ISR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(GiveFromISR)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Gunakan untuk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Signaling/event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Protect shared resource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Semaphore &amp; Mutex – Sinkronisasi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Producer-Consumer &amp; Reader-Writer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926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Producer-Consumer Pattern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task menghasilkan data → kirim ke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task memproses data ← terima dari queue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bertindak sebagai buffer antara keduanya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Decoupling: producer dan consumer berjalan independen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mismatch: queue menyerap burst produksi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consumers: masing-masing terima item berbeda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Implementasi: sensor task → queue → processing task → display task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Reader-Writer Pattern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reader bisa akses bersamaan (read tidak merusak data)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butuh exclusive access (harus tunggu semua reader selesai)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semaphore (counting): track jumlah reader aktif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mutex: exclusive access untuk writer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Reader: take read_sem → baca → give read_sem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Writer: tunggu read_count == 0 → ambil write_mutex → tulis → release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tidak ada built-in RW lock, implementasi manual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85953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2569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Untuk sensor data yang hanya dibaca (tidak dimodifikasi), pertimbangkan double-buffer pattern: writer isi buffer A, reader baca buffer B, swap atomik.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Semaphore &amp; Mutex – Sinkronisasi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Praktikum: Implementasi Semaphore &amp; Queue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Contoh: Sensor → Queue → Display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Producer: Sensor Task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sensorTask(void *p)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SensorData_t data;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while(1)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data.temp = readTemperature();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xQueueSend(sensorQ, &amp;data, pdMS_TO_TICKS(10));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vTaskDelay(pdMS_TO_TICKS(100));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Consumer Task &amp; Mutex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Consumer: Display Task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displayTask(void *p)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SensorData_t data;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while(1)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if(xQueueReceive(sensorQ, &amp;data, portMAX_DELAY))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xSemaphoreTake(displayMutex, portMAX_DELAY);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updateDisplay(data.temp);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xSemaphoreGive(displayMutex);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Checklist Implementasi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Inisialisasi: sensorQ = xQueueCreate(10, sizeof(SensorData_t)) sebelum vTaskStartScheduler()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return value: NULL jika heap habis (ubah configTOTAL_HEAP_SIZE)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gunakan pdMS_TO_TICKS() bukan nilai ticks langsung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gunakan vTaskList() untuk lihat semua task dan statusnya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configASSERT() untuk tangkap bug lebih awal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Timer, Task Notification &amp; Event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 FreeRTOS: One-Shot &amp; Auto-Reload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Software Timer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yang berjalan di Timer Daemon Task: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hardware timer yang digunakan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Callback dijalankan di konteks daemon task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JANGAN blocking di callback!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xTimerCreate(name, period, reload, id, callback)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xTimerStart() / xTimerStop() / xTimerReset()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🔂 One-Shot vs Auto-Reload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(pdFALSE):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 sekali lalu berhenti otomatis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Contoh: watchdog, retry timeout, LED blink once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Auto-Reload (pdTRUE):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 berulang setiap period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Contoh: heartbeat, periodic sensor read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xTimerChangePeriod(): ubah period saat running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Detail Implementasi Timer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Daemon Task: FreeRTOS creates timer task otomatis (configTIMER_TASK_PRIORITY)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Command Queue: perintah timer (start/stop/reset) dikirim via queue internal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Akurasi: bergantung tick rate. 1ms tick → resolusi 1ms minimum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lupa: xTimerStart() setelah xTimerCreate(), timer belum jalan kalau tidak distart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pvTimerGetTimerID(): ambil ID untuk identifikasi jika satu callback untuk banyak timer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Timer, Task Notification &amp; Event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Notification: Give/Take, Set Value &amp; Counting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3200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Task Notification Give/Take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signaling langsung ke task tanpa overhead queue/semaphore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task punya 1 notification value (uint32_t) + state (pending/not)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xTaskNotifyGive(taskHandle): increment counter (seperti semaphore give)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ulTaskNotifyTake(clearOnExit, ticksToWait): ambil notifikasi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clearOnExit=pdTRUE: reset ke 0 setelah ambil (binary behavior)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clearOnExit=pdFALSE: decrement 1 (counting behavior)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xTaskNotifyGiveFromISR(): versi ISR safe, lebih efisien dari semaphore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32004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3200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 Task Notify Value &amp; 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xTaskNotify(handle, value, action): kirim nilai ke task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eNoAction: wake task tanpa ubah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eSetBits: OR mask ke notification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eIncrement: increment notification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eSetValueWithOverwrite: set nilai, overwrite jika pending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eSetValueWithoutOverwrite: set nilai hanya jika tidak pending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xTaskNotifyWait(clearEntry, clearExit, &amp;value, ticks): tunggu dan baca nilai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36008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725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Keunggulan vs Semaphore: lebih cepat (langsung ke task), hemat RAM (tidak perlu objek terpisah), API lebih sederhana. Cocok untuk 1-to-1 signaling.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Timer, Task Notification &amp; Event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Group: Bit Manipulation, AND/OR Logic &amp; Barrier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560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Event Group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EventGroupHandle_t: 24-bit flags (configUSE_16_BIT_TICKS=0) atau 8-bit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xEventGroupCreate(): buat event group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xEventGroupSetBits(group, bits): set satu atau lebih bit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xEventGroupClearBits(group, bits): clear bit tertentu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xEventGroupGetBits(group): baca nilai saat ini non-blocking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xEventGroupSetBitsFromISR(): versi ISR safe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5603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Wait Bits &amp; Barrier 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xEventGroupWaitBits(group, bitsToWait, clearOnExit, waitAll, ticks)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waitAll=pdTRUE: tunggu SEMUA bit tersebut set (AND logic)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waitAll=pdFALSE: tunggu SALAH SATU bit set (OR logic)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clearOnExit=pdTRUE: clear bits yang ditunggu setelah wake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synchronization: semua task set bit masing-masing, lalu tunggu semua 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value: bit pattern saat task terbangun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task bisa tunggu event group yang sama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Contoh Barrier: 3 task harus selesai inisialisasi sebelum mulai: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 = Task A ready, Bit 1 = Task B ready, Bit 2 = Task C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task: xEventGroupSetBits(startGroup, ownBit)  →  xEventGroupWaitBits(startGroup, 0x07, pdFALSE, pdTRUE, portMAX_DELAY)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Timer, Task Notification &amp; Event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Overhead: Timer vs Notification vs Semaphore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Mekanisme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Overhead 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Kecepatan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 Case Terbaik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Task Notification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~0 bytes tambahan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Tercepat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1-to-1 signaling, ISR→task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Binary Semaphore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~80 bytes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Cepat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ISR→task, multi-producer 1-consumer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Counting Semaphore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~80 bytes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Cepat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Resource counting, event accumulation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Mutex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~80 bytes + PI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Cepat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Protect shared resource antar task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~80B + N×itemSize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Data transfer dengan buffer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Event Group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~~100 bytes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Multi-bit flags, barrier sync, OR/AND wait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Software Timer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~100B + daemon task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Tick-dependent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Periodic/one-shot callback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572000"/>
            <a:ext cx="8595360" cy="54864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457200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4681728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mekanisme paling sederhana yang memenuhi kebutuhan: Notification &gt; Semaphore &gt; Queue &gt; Event Group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over-engineer: sering Binary Semaphore sudah cukup, Notification bahkan lebih baik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Group berguna ketika butuh wait pada kombinasi multiple kondisi sekaligus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Timer, Task Notification &amp; Event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Implementasi: LED Blink Timer + Button Notification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65176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Auto-Reload Timer – LED Heartbeat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TimerHandle_t ledTimer;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ledCallback(TimerHandle_t 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HAL_GPIO_TogglePin(LED_GPIO, LED_PIN);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di main sebelum scheduler: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ledTimer = xTimerCreate("LED", pdMS_TO_TICKS(500),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pdTRUE, 0, ledCallback);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xTimerStart(ledTimer, 0);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651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Task Notification – Tombol ISR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TaskHandle_t processHandle;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EXTI_IRQHandler(void)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BaseType_t woken;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vTaskNotifyGiveFromISR(processHandle, &amp;woken);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portYIELD_FROM_ISR(woken);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processTask(void *p)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while(1)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ulTaskNotifyTake(pdTRUE, portMAX_DELAY);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handleButtonPress();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8595360" cy="100584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54864" cy="1005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11480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Tips Lanjutan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462272"/>
            <a:ext cx="8339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Notification rate lebih tinggi vs semaphore untuk polling button/encoder cepat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akses HAL/peripheral langsung di timer callback – delegate ke task via notification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xTimerPendFunctionCall(): jadwalkan fungsi berjalan di daemon task (tidak perlu task baru)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Kombinasikan: Timer set event group bit → task tunggu event group untuk sinkronisasi kompleks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Management: heap_1 sampai heap_5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8595360" cy="640080"/>
          </a:xfrm>
          <a:prstGeom prst="rect">
            <a:avLst/>
          </a:prstGeom>
          <a:solidFill>
            <a:srgbClr val="172A45"/>
          </a:solidFill>
          <a:ln w="19050">
            <a:solidFill>
              <a:srgbClr val="8892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822960" cy="640080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25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325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sederhana. Malloc tanpa free. Memory tidak pernah dibebaskan. Deterministik, cocok untuk sistem yang task-nya tidak pernah dihapus.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20824"/>
            <a:ext cx="8595360" cy="6400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20824"/>
            <a:ext cx="82296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208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2082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free, tidak ada penggabungan blok bebas. Rentan fragmentasi. Hanya cocok jika alokasi ukuran sama berulang.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15768"/>
            <a:ext cx="8595360" cy="640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15768"/>
            <a:ext cx="822960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157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157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thread-safe untuk malloc/free standar C. Ukuran heap dari linker. Tidak deterministik, bergantung stdlib implementation.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8595360" cy="640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10712"/>
            <a:ext cx="822960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07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1071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blok bebas yang berdekatan (coalesce). Paling umum digunakan. Balance antara kemampuan dan determinisme.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105656"/>
            <a:ext cx="8595360" cy="64008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05656"/>
            <a:ext cx="822960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0565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10565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heap_4, tapi bisa mendefinisikan beberapa region memori tidak berurutan. Cocok untuk MCU dengan SRAM terpisah.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Fragmentasi Memori &amp; Static vs Dynamic Allocation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743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Fragmentasi Heap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Fragmentasi terjadi ketika blok bebas tersebar tidak berurutan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fragmentation: cukup total free, tapi tidak ada blok kontinu besar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fragmentation: blok dialokasi lebih besar dari yang diminta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heap_2 dan heap_4 mengurangi fragmentasi dengan coalescing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alokasi sama ukuran: gunakan heap_2 (no fragmentasi jika ukuran seragam)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xPortGetFreeHeapSize() dan xPortGetMinimumEverFreeHeapSize()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7432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743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Static vs Dynamic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pvPortMalloc() saat runtime, fleksibel, bisa gagal (return NULL)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buffer global/static, tidak bisa gagal di runtime, deterministik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xTaskCreateStatic(): berikan TCB buffer dan stack buffer manual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xQueueCreateStatic(): berikan storage area buffer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configSUPPORT_STATIC_ALLOCATION = 1 untuk aktifkan API static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system: gunakan static sepenuhnya (MISRA-C guideline)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periksa return NULL dari pvPortMalloc() 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Best Practice: Lakukan semua alokasi di initialization phase, bukan saat sistem berjalan. Hindari malloc/free berulang untuk mencegah fragmentasi runtime.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Pool, Stream Buffer &amp; Message Buffer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Memory Pool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 fixed-size blocks via queue of pointers: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Alokasi semua blok di awal (array)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 isi pointer ke tiap blok kosong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Allocate: xQueueReceive dari pool queue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Free: xQueueSend balik ke pool queue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fragmentasi! Selalu O(1)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packet buffer, frame buffer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Stream Buffer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byte stream antar task: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xStreamBufferCreate(bufSize, triggerLevel)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xStreamBufferSend(): kirim byte stream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xStreamBufferReceive(): terima minimum triggerLevel bytes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Efisien: tidak copy per item seperti queue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UART RX, audio stream, kontinuos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1 writer dan 1 reader (tidak thread-safe untuk multi)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Message Buffer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stream buffer + framing length: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xMessageBufferCreate(bufSize)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Setiap send menyertakan ukuran pesan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xMessageBufferReceive(): terima satu pesan utuh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Message bisa ukuran berbeda-beda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Overhead: 4 byte per pesan untuk length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Cocok untuk: pesan variabel ukuran, paket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Juga only 1 writer dan 1 reader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Perbandingan: Queue = typed items copy; Stream Buffer = raw bytes continuous; Message Buffer = framed variable messages; Memory Pool = pre-allocated fixed blocks via pointer queue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Section vs Mutex: Kapan Menggunakan Masing-masing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926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Critical Section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taskENTER_CRITICAL() / taskEXIT_CRITICAL(): disable semua interrupt dibawah configMAX_SYSCALL_INTERRUPT_PRIORITY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blocking: tidak bisa digunakan untuk tunggu kondisi, hanya lindungi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sangat singkat: hanya untuk akses register, variable update, dll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nest dengan semaphore/mutex di dalamnya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taskENTER_CRITICAL_FROM_ISR() versi ISR-safe dengan nested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portDISABLE_INTERRUPTS(): disable total (lebih kasar dari critical section)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untuk: update shared variable atomik, akses peripheral register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926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Mutex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xSemaphoreTake(mutex, ticks): bisa blocking, bisa timeout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ketika resource butuh waktu lebih lama untuk diakses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inheritance mencegah priority inversion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disable interrupt: sistem tetap responsif saat tunggu mutex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di ISR! (gunakan critical section untuk ISR)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lebih besar dari critical section tapi lebih aman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untuk: UART printf, I2C bus, SPI device, shared data struct</a:t>
            </a:r>
            <a:endParaRPr lang="en-US" sz="11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07408"/>
          <a:ext cx="8229600" cy="822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Fitur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Critical Section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Mutex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Blocking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 (non-blocking)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(bisa timeout)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Interrupt disabled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Durasi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Sangat singkat (μs)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Bebas (ms ke atas)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Dari ISR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Ya (versi ISR)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6F6"/>
                          </a:solidFill>
                        </a:rPr>
                        <a:t>Tidak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FreeRTOS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Memory Management Embedded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Sizing Guidelines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Mulai dengan 256 words (1KB)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watermark: uxTaskGetStackHighWaterMark()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watermark &lt; 50 words → tambah 100 words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ISR tidak punya stack terpisah → gunakan MSP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sizing: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configTOTAL_HEAP_SIZE cukup untuk semua task TCB, stack, queue, timer, dll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25880"/>
            <a:ext cx="42976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Debugging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09928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configCHECK_FOR_STACK_OVERFLOW = 2: runtime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vApplicationStackOverflowHook(): callback saat overflow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configUSE_MALLOC_FAILED_HOOK = 1: callback malloc fail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vApplicationMallocFailedHook(): handle malloc failure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Wireshark/Percepio Tracealyzer: visual heap profiling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log xPortGetFreeHeapSize() ke serial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Golden Rules Memory Embedded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Semua alokasi di startup, tidak ada malloc di steady state (production code)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Selalu handle malloc failure – cek NULL sebelum gunakan pointer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Gunakan static allocation untuk safety-critical component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Monitor heap dan stack watermark secara berkala di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Hindari large local variables di task – gunakan global/static buffer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6: Lebih baik alokasi lebih besar daripada stack overflow yang crash sistem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Konektivitas: WiFi, TCP/IP, HTTP, MQTT, BLE &amp; WebSocket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STA vs AP Mode, DHCP &amp; RSSI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Station Mode (STA)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sebagai client WiFi: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Terhubung ke Access Point (router)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Mendapat IP dari DHCP server router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esp_wifi_set_mode(WIFI_MODE_STA)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esp_wifi_connect() → event CONNECTED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DHCP otomatis: esp_netif_create_default_wifi_sta()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Mendapat IP, gateway, DNS otomatis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Access Point Mode (AP)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sebagai hotspot: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lain konek ke ESP32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DHCP server built-in di ESP32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esp_wifi_set_mode(WIFI_MODE_AP)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Konfigurasi: SSID, password, channel, max conn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 default: 192.168.4.1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Berguna: provisioning, lokal control tanpa internet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DHCP &amp; RSSI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DHCP: Dynamic Host Config Protocol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Otomatis assign IP, subnet, gateway, DNS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 time: IP dipinjam sementara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IP: esp_netif_set_ip_info()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RSSI: Received Signal Strength Indicator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Satuan: dBm (negatif)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Baik: -50 dBm, Lemah: -80 dBm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esp_wifi_sta_get_ap_info() → rssi field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Tips Koneksi WiFi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APSTA Mode: ESP32 bisa STA dan AP sekaligus (dual-mode bridge/gateway)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Event: WIFI_EVENT_STA_CONNECTED, IP_EVENT_STA_GOT_IP → gunakan EventGroup untuk sinkronisasi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Reconnect: implementasikan auto-reconnect di event WIFI_EVENT_STA_DISCONNECTED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WPA2/WPA3 Enterprise: menggunakan 802.1X authentication (kampus/kantor)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Konektivitas: WiFi, TCP/IP, HTTP, MQTT, BLE &amp; WebSocket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 &amp; HTTP REST API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37744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377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TCP – Reliable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Connection-oriented: harus establish (3-way handshake) sebelum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Reliable: ACK setiap paket, retransmit jika hilang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Ordered: data tiba sesuai urutan pengiriman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&amp; congestion control built-in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lebih tinggi, latency lebih besar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HTTP, MQTT, file transfer, SSH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37744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377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UDP – Fast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Connectionless: langsung kirim tanpa handshake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Unreliable: tidak ada ACK, bisa hilang/duplikat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Unordered: paket bisa tiba tidak berurutan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rendah, latency sangat kecil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DNS, NTP, video streaming, gaming, sensor broadcast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bisa diimplementasi di application layer jika perlu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8595360" cy="1298448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HTTP &amp; REST API: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/path HTTP/1.1 \r\n Host: server \r\n Headers \r\n\r\n Body
</a:t>
            </a:r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(baca) | POST (buat) | PUT (update) | DELETE (hapus)
</a:t>
            </a:r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esp_http_client → esp_http_client_perform() untuk simple request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Konektivitas: WiFi, TCP/IP, HTTP, MQTT, BLE &amp; WebSocket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Publish/Subscribe, Broker, Topic &amp; QoS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Arsitektur MQTT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 Telemetry Transport: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Publish/Subscribe model (bukan request/response)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Broker: server pusat (Mosquitto, HiveMQ, AWS IoT)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Publisher: kirim data ke topic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Subscriber: terima data dari topic yang diikuti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Topic: string hierarki → home/room/temperature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Wildcards: # (multi-level) dan + (single-level)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QoS Level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QoS 0: At most once – kirim sekali, tidak ada konfirmasi (fire &amp; forget)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QoS 1: At least once – konfirmasi PUBACK, bisa duplikat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QoS 2: Exactly once – 4-way handshake, paling aman tapi lambat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QoS berdasarkan kritikalitas data!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83464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8346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25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MQTT di ESP32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esp_mqtt_client: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esp_mqtt_client_config_t: broker URI, creds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esp_mqtt_client_init()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esp_mqtt_client_start()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esp_mqtt_client_publish(topic, data, len, qos, retain)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esp_mqtt_client_subscribe(topic, qos)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Event: CONNECTED, DATA, DISCONNECTED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8595360" cy="10972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Fitur Penting MQTT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352544"/>
            <a:ext cx="8339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flag: broker menyimpan pesan terakhir, subscriber baru langsung dapat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message: pesan otomatis dikirim broker jika client disconnect tidak bersih (LWT)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Keep-alive: PINGREQ/PINGRESP periodik untuk deteksi koneksi putus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TLS/SSL: enkripsi end-to-end, penting untuk keamanan IoT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Konektivitas: WiFi, TCP/IP, HTTP, MQTT, BLE &amp; WebSocket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BLE: Advertising &amp; GATT  |  WebSocket: Full-Duplex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841248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54864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BLE – Bluetooth Low Energy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Advertising: broadcast paket periodik tanpa koneksi (beacon, iBeacon)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Generic Access Profile – mengatur advertising dan koneksi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GATT: Generic Attribute Profile – struktur data layanan dan karakteristik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kumpulan karakteristik terkait (UUID 16 atau 128-bit)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Characteristic: satu nilai data + properties (read/write/notify/indicate)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Descriptor: metadata tentang karakteristik (format, unit, range)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Notify: server push data ke client tanpa diminta (efisien untuk sensor)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292608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4864" cy="2926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WebSocket – Real-Time Push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673352"/>
            <a:ext cx="38587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Full-duplex: server dan client bisa kirim kapan saja tanpa polling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dari HTTP: Upgrade: websocket + Sec-WebSocket-Key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format: opcode + payload length + masking key +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Opcode: 0x1=text, 0x2=binary, 0x8=close, 0x9=ping, 0xA=pong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sangat rendah untuk real-time push dari server ke browser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 esp_websocket_client_handle_t (client) atau httpd_ws (server)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dashboard real-time, kontrol motor web, IoT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8595360" cy="7772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2569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Protokol Komunikasi: HTTP (request-response, stateless) | WebSocket (persistent, full-duplex) | MQTT (pub-sub, lightweight) | BLE GATT (local wireless, low power)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12 Modul Praktikum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57200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822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22960"/>
            <a:ext cx="4572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229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53512" y="822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&amp; Timer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822960"/>
            <a:ext cx="45720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8229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9784" y="822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822960"/>
            <a:ext cx="4572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8229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06056" y="822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87452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74520"/>
            <a:ext cx="4572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1874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&amp; PWM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0592" y="187452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1874520"/>
            <a:ext cx="45720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53512" y="1874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187452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874520"/>
            <a:ext cx="4572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9784" y="1874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&amp; Storage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03136" y="187452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1874520"/>
            <a:ext cx="457200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06056" y="18745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Dasar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92608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2926080"/>
            <a:ext cx="45720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9260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Semaphore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50592" y="292608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50592" y="2926080"/>
            <a:ext cx="4572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29260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953512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&amp; Notification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26864" y="292608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2926080"/>
            <a:ext cx="4572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26864" y="29260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29784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Mgmt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03136" y="2926080"/>
            <a:ext cx="2057400" cy="914400"/>
          </a:xfrm>
          <a:prstGeom prst="rect">
            <a:avLst/>
          </a:prstGeom>
          <a:solidFill>
            <a:srgbClr val="172A4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2926080"/>
            <a:ext cx="457200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03136" y="29260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06056" y="29260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&amp; Protokol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133088"/>
            <a:ext cx="85953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 Putro Nugroho  |  NIM: 40040324620017  |  Praktikum Sistem Embedded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Penjelasan Praktikum Sistem Embedded</dc:title>
  <dc:subject>PptxGenJS Presentation</dc:subject>
  <dc:creator>Abby Putro Nugroho</dc:creator>
  <cp:lastModifiedBy>Abby Putro Nugroho</cp:lastModifiedBy>
  <cp:revision>1</cp:revision>
  <dcterms:created xsi:type="dcterms:W3CDTF">2026-04-12T18:00:11Z</dcterms:created>
  <dcterms:modified xsi:type="dcterms:W3CDTF">2026-04-12T18:00:11Z</dcterms:modified>
</cp:coreProperties>
</file>